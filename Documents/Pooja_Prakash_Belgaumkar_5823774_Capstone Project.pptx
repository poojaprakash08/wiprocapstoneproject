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93" r:id="rId3"/>
    <p:sldId id="298" r:id="rId4"/>
    <p:sldId id="299" r:id="rId5"/>
    <p:sldId id="294" r:id="rId6"/>
    <p:sldId id="257" r:id="rId7"/>
    <p:sldId id="283" r:id="rId8"/>
    <p:sldId id="285" r:id="rId9"/>
    <p:sldId id="286" r:id="rId10"/>
    <p:sldId id="287" r:id="rId11"/>
    <p:sldId id="295" r:id="rId12"/>
    <p:sldId id="289" r:id="rId13"/>
    <p:sldId id="284" r:id="rId14"/>
    <p:sldId id="290" r:id="rId15"/>
    <p:sldId id="296" r:id="rId16"/>
    <p:sldId id="297" r:id="rId17"/>
    <p:sldId id="30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98" autoAdjust="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3FCC2-4E7A-4671-AA79-177CB194E44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1C38D-F26D-4167-83EF-8774BC62D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50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4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8009"/>
            <a:ext cx="9144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228600" lvl="0" indent="-228600">
              <a:lnSpc>
                <a:spcPct val="150000"/>
              </a:lnSpc>
              <a:spcAft>
                <a:spcPts val="1200"/>
              </a:spcAft>
            </a:pPr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342899" y="4546601"/>
            <a:ext cx="11715751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4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034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46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2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 algn="l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95537" y="1507068"/>
            <a:ext cx="7143905" cy="4669896"/>
          </a:xfrm>
        </p:spPr>
        <p:txBody>
          <a:bodyPr anchor="ctr"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9444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82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815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3501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675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4E560-77BF-4D1A-B6E7-CD55CE12B1B8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51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52" r:id="rId4"/>
    <p:sldLayoutId id="2147483660" r:id="rId5"/>
    <p:sldLayoutId id="2147483662" r:id="rId6"/>
    <p:sldLayoutId id="2147483661" r:id="rId7"/>
    <p:sldLayoutId id="2147483655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F8D61-9318-4DC8-A868-2B1BFDD2B2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Capstone Project on</a:t>
            </a:r>
            <a:br>
              <a:rPr lang="en-US" b="1" dirty="0"/>
            </a:br>
            <a:r>
              <a:rPr lang="en-US" b="1" dirty="0"/>
              <a:t>VietJetAir Website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322DE6-C2BE-4B53-BC28-C43EBD0052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Java – Selenium Batch 4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6FA85D-3B0A-4E0C-B8AC-042993910A93}"/>
              </a:ext>
            </a:extLst>
          </p:cNvPr>
          <p:cNvSpPr txBox="1">
            <a:spLocks/>
          </p:cNvSpPr>
          <p:nvPr/>
        </p:nvSpPr>
        <p:spPr>
          <a:xfrm>
            <a:off x="8382000" y="5398468"/>
            <a:ext cx="3333750" cy="100233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pPr>
              <a:spcBef>
                <a:spcPts val="1000"/>
              </a:spcBef>
            </a:pPr>
            <a:r>
              <a:rPr lang="en-US" sz="2000" b="1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Pooja Prakash Belgaumkar</a:t>
            </a:r>
          </a:p>
          <a:p>
            <a:pPr>
              <a:spcBef>
                <a:spcPts val="1000"/>
              </a:spcBef>
            </a:pPr>
            <a:r>
              <a:rPr lang="en-US" sz="2000" b="1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Superset ID : 5823774</a:t>
            </a:r>
          </a:p>
        </p:txBody>
      </p:sp>
    </p:spTree>
    <p:extLst>
      <p:ext uri="{BB962C8B-B14F-4D97-AF65-F5344CB8AC3E}">
        <p14:creationId xmlns:p14="http://schemas.microsoft.com/office/powerpoint/2010/main" val="2997580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F13EE-630B-918B-FEB5-AA5E1B1B3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CBE8F-DA28-866E-9B05-7F3BDF97D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2" name="Text Placeholder 6" descr="3D Models">
            <a:extLst>
              <a:ext uri="{FF2B5EF4-FFF2-40B4-BE49-F238E27FC236}">
                <a16:creationId xmlns:a16="http://schemas.microsoft.com/office/drawing/2014/main" id="{540126D6-1228-972F-F578-F1D14BF64785}"/>
              </a:ext>
            </a:extLst>
          </p:cNvPr>
          <p:cNvSpPr txBox="1">
            <a:spLocks/>
          </p:cNvSpPr>
          <p:nvPr/>
        </p:nvSpPr>
        <p:spPr>
          <a:xfrm>
            <a:off x="710451" y="1602267"/>
            <a:ext cx="9274344" cy="98190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1B6FA6-CBD9-7C22-D942-E97FE8C252C6}"/>
              </a:ext>
            </a:extLst>
          </p:cNvPr>
          <p:cNvSpPr txBox="1"/>
          <p:nvPr/>
        </p:nvSpPr>
        <p:spPr>
          <a:xfrm>
            <a:off x="1042737" y="1739346"/>
            <a:ext cx="5759116" cy="4670025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Project Overview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Tools and Technologies Used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Project Structure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Feature Files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StepDefinitions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POM Class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Utilities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Runner Class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Extent Report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Screenshots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GitHub link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IN" sz="2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903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01FF3-142C-A09E-7DD4-D30ACD7E6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34DDA-58AA-2181-3D81-37710C4DB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2" name="Text Placeholder 6" descr="3D Models">
            <a:extLst>
              <a:ext uri="{FF2B5EF4-FFF2-40B4-BE49-F238E27FC236}">
                <a16:creationId xmlns:a16="http://schemas.microsoft.com/office/drawing/2014/main" id="{CEDC94F2-D955-6451-C2CF-EBB3660B56D2}"/>
              </a:ext>
            </a:extLst>
          </p:cNvPr>
          <p:cNvSpPr txBox="1">
            <a:spLocks/>
          </p:cNvSpPr>
          <p:nvPr/>
        </p:nvSpPr>
        <p:spPr>
          <a:xfrm>
            <a:off x="710451" y="1602267"/>
            <a:ext cx="9274344" cy="98190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 dirty="0"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CFAA48-DEEF-D5A4-28CB-CFBD73640AA7}"/>
              </a:ext>
            </a:extLst>
          </p:cNvPr>
          <p:cNvSpPr txBox="1"/>
          <p:nvPr/>
        </p:nvSpPr>
        <p:spPr>
          <a:xfrm>
            <a:off x="604434" y="1859340"/>
            <a:ext cx="10721292" cy="1881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The VietJet Air Capstone Project automates end-to-end testing of the website using Selenium, Java, Cucumber BDD, and POM. It covers registration, login, flight search, booking, add-ons, and payment, with data-driven tests, cross-browser support, detailed reports, and CI/CD integration.</a:t>
            </a:r>
            <a:endParaRPr lang="en-US" sz="20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6179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73237-C989-6CDC-C5AC-23450BF86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CAD6B-FF3C-690F-DECA-2CFA261E9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and Technologies Used</a:t>
            </a:r>
          </a:p>
        </p:txBody>
      </p:sp>
      <p:sp>
        <p:nvSpPr>
          <p:cNvPr id="32" name="Text Placeholder 6" descr="3D Models">
            <a:extLst>
              <a:ext uri="{FF2B5EF4-FFF2-40B4-BE49-F238E27FC236}">
                <a16:creationId xmlns:a16="http://schemas.microsoft.com/office/drawing/2014/main" id="{1050418F-D060-C436-3A2A-454D471C299F}"/>
              </a:ext>
            </a:extLst>
          </p:cNvPr>
          <p:cNvSpPr txBox="1">
            <a:spLocks/>
          </p:cNvSpPr>
          <p:nvPr/>
        </p:nvSpPr>
        <p:spPr>
          <a:xfrm>
            <a:off x="604433" y="1556084"/>
            <a:ext cx="10983131" cy="313974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50000"/>
              </a:lnSpc>
            </a:pPr>
            <a:r>
              <a:rPr lang="en-US" sz="2000" b="1" dirty="0"/>
              <a:t>Java</a:t>
            </a:r>
            <a:r>
              <a:rPr lang="en-US" sz="2000" dirty="0"/>
              <a:t> – Programming language for writing test scripts.​​</a:t>
            </a:r>
          </a:p>
          <a:p>
            <a:pPr fontAlgn="base">
              <a:lnSpc>
                <a:spcPct val="150000"/>
              </a:lnSpc>
            </a:pPr>
            <a:r>
              <a:rPr lang="en-US" sz="2000" b="1" dirty="0"/>
              <a:t>Selenium WebDriver</a:t>
            </a:r>
            <a:r>
              <a:rPr lang="en-US" sz="2000" dirty="0"/>
              <a:t> – For browser automation and interaction.​​</a:t>
            </a:r>
          </a:p>
          <a:p>
            <a:pPr fontAlgn="base">
              <a:lnSpc>
                <a:spcPct val="150000"/>
              </a:lnSpc>
            </a:pPr>
            <a:r>
              <a:rPr lang="en-US" sz="2000" b="1" dirty="0"/>
              <a:t>Maven</a:t>
            </a:r>
            <a:r>
              <a:rPr lang="en-US" sz="2000" dirty="0"/>
              <a:t> – Build automation and dependency management tool.​​</a:t>
            </a:r>
          </a:p>
          <a:p>
            <a:pPr fontAlgn="base">
              <a:lnSpc>
                <a:spcPct val="150000"/>
              </a:lnSpc>
            </a:pPr>
            <a:r>
              <a:rPr lang="en-US" sz="2000" b="1" dirty="0"/>
              <a:t>TestNG</a:t>
            </a:r>
            <a:r>
              <a:rPr lang="en-US" sz="2000" dirty="0"/>
              <a:t> – Testing framework for organizing and executing the test cases.​​</a:t>
            </a:r>
          </a:p>
          <a:p>
            <a:pPr fontAlgn="base">
              <a:lnSpc>
                <a:spcPct val="150000"/>
              </a:lnSpc>
            </a:pPr>
            <a:r>
              <a:rPr lang="en-US" sz="2000" b="1" dirty="0"/>
              <a:t>Cucumber BDD</a:t>
            </a:r>
            <a:r>
              <a:rPr lang="en-US" sz="2000" dirty="0"/>
              <a:t> – Behavior Driven Development tool for writing tests in Gherkin syntax.​​</a:t>
            </a:r>
          </a:p>
        </p:txBody>
      </p:sp>
    </p:spTree>
    <p:extLst>
      <p:ext uri="{BB962C8B-B14F-4D97-AF65-F5344CB8AC3E}">
        <p14:creationId xmlns:p14="http://schemas.microsoft.com/office/powerpoint/2010/main" val="4151723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FA662-92E8-C6C7-E785-F582205A7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8D3C5-8D04-5A8B-D880-A38572F72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Structure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18CDFE-38BE-9B63-0AA9-8BD1D582C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601" y="1403350"/>
            <a:ext cx="3042694" cy="50060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591395-726F-0275-A418-54F869949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74" y="1403350"/>
            <a:ext cx="2799066" cy="5006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579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795B-A93A-416C-8052-FAF4D9073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Files</a:t>
            </a:r>
          </a:p>
        </p:txBody>
      </p:sp>
      <p:sp>
        <p:nvSpPr>
          <p:cNvPr id="32" name="Text Placeholder 6" descr="3D Models">
            <a:extLst>
              <a:ext uri="{FF2B5EF4-FFF2-40B4-BE49-F238E27FC236}">
                <a16:creationId xmlns:a16="http://schemas.microsoft.com/office/drawing/2014/main" id="{0D4EB70A-0A14-4B27-B499-59D76007ABA8}"/>
              </a:ext>
            </a:extLst>
          </p:cNvPr>
          <p:cNvSpPr txBox="1">
            <a:spLocks/>
          </p:cNvSpPr>
          <p:nvPr/>
        </p:nvSpPr>
        <p:spPr>
          <a:xfrm>
            <a:off x="710451" y="1602267"/>
            <a:ext cx="9274344" cy="98190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Feature files define the </a:t>
            </a:r>
            <a:r>
              <a:rPr lang="en-US" sz="1800" b="1" dirty="0"/>
              <a:t>behavior of the application</a:t>
            </a:r>
            <a:r>
              <a:rPr lang="en-US" sz="1800" dirty="0"/>
              <a:t> in plain English using Gherkin syntax. They describe </a:t>
            </a:r>
            <a:r>
              <a:rPr lang="en-US" sz="1800" b="1" dirty="0"/>
              <a:t>what to test</a:t>
            </a:r>
            <a:r>
              <a:rPr lang="en-US" sz="1800" dirty="0"/>
              <a:t> without worrying about the underlying code.</a:t>
            </a:r>
            <a:endParaRPr lang="en-US" sz="1800" dirty="0">
              <a:latin typeface="+mj-lt"/>
              <a:ea typeface="+mj-ea"/>
              <a:cs typeface="+mj-cs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0FA0BB1-7895-E29B-C9D7-3DDD6CA61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451" y="3132064"/>
            <a:ext cx="9274344" cy="2579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108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FCFF0-A71F-D42C-513E-2A857D38F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DB671-CC87-1831-53B1-1C3D39672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Files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F0F667-3FE1-1C12-1281-5FCBE4227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84" y="1632538"/>
            <a:ext cx="10753632" cy="4078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229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D4BA9-90F3-426D-78DA-DE8339978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462D7-2587-CAE8-CC0F-DDDC1896E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StepDefinitions</a:t>
            </a:r>
          </a:p>
        </p:txBody>
      </p:sp>
      <p:sp>
        <p:nvSpPr>
          <p:cNvPr id="32" name="Text Placeholder 6" descr="3D Models">
            <a:extLst>
              <a:ext uri="{FF2B5EF4-FFF2-40B4-BE49-F238E27FC236}">
                <a16:creationId xmlns:a16="http://schemas.microsoft.com/office/drawing/2014/main" id="{5EAA16B0-E3E8-496A-09E8-3D4DC9F1A61C}"/>
              </a:ext>
            </a:extLst>
          </p:cNvPr>
          <p:cNvSpPr txBox="1">
            <a:spLocks/>
          </p:cNvSpPr>
          <p:nvPr/>
        </p:nvSpPr>
        <p:spPr>
          <a:xfrm>
            <a:off x="604434" y="1323971"/>
            <a:ext cx="9825028" cy="98190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Step Definitions act as a </a:t>
            </a:r>
            <a:r>
              <a:rPr lang="en-US" sz="1800" b="1" dirty="0"/>
              <a:t>bridge between Feature files and Selenium code</a:t>
            </a:r>
            <a:r>
              <a:rPr lang="en-US" sz="1800" dirty="0"/>
              <a:t>. Each @Given, @When, and @Then maps a Gherkin step to actual Java methods that perform browser actions.</a:t>
            </a:r>
            <a:endParaRPr lang="en-US" sz="1800" dirty="0"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A20BED-AE40-CF96-8069-744AB1277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985" y="2433458"/>
            <a:ext cx="10240029" cy="372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304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AE129-F81A-4674-10D2-51DF9B1AD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167F9-5DC2-DCCA-509D-79FCA674D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StepDefinitions</a:t>
            </a:r>
          </a:p>
        </p:txBody>
      </p:sp>
      <p:sp>
        <p:nvSpPr>
          <p:cNvPr id="32" name="Text Placeholder 6" descr="3D Models">
            <a:extLst>
              <a:ext uri="{FF2B5EF4-FFF2-40B4-BE49-F238E27FC236}">
                <a16:creationId xmlns:a16="http://schemas.microsoft.com/office/drawing/2014/main" id="{34C7DDC7-8647-8095-002A-B75B2769E7A8}"/>
              </a:ext>
            </a:extLst>
          </p:cNvPr>
          <p:cNvSpPr txBox="1">
            <a:spLocks/>
          </p:cNvSpPr>
          <p:nvPr/>
        </p:nvSpPr>
        <p:spPr>
          <a:xfrm>
            <a:off x="1458828" y="5275425"/>
            <a:ext cx="9274344" cy="98190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05F296-33A6-BFC3-DB9D-4F49359AD8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50" t="-493" r="250" b="31247"/>
          <a:stretch>
            <a:fillRect/>
          </a:stretch>
        </p:blipFill>
        <p:spPr>
          <a:xfrm>
            <a:off x="2157724" y="1418421"/>
            <a:ext cx="7876552" cy="4838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280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38A8A-BA2F-D3BF-AEDB-78FB073EE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DA2D5-DC6F-4957-F690-9F0518257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POM Class</a:t>
            </a:r>
          </a:p>
        </p:txBody>
      </p:sp>
      <p:sp>
        <p:nvSpPr>
          <p:cNvPr id="32" name="Text Placeholder 6" descr="3D Models">
            <a:extLst>
              <a:ext uri="{FF2B5EF4-FFF2-40B4-BE49-F238E27FC236}">
                <a16:creationId xmlns:a16="http://schemas.microsoft.com/office/drawing/2014/main" id="{34867639-391C-5EC6-66CD-AFA55F345856}"/>
              </a:ext>
            </a:extLst>
          </p:cNvPr>
          <p:cNvSpPr txBox="1">
            <a:spLocks/>
          </p:cNvSpPr>
          <p:nvPr/>
        </p:nvSpPr>
        <p:spPr>
          <a:xfrm>
            <a:off x="604434" y="1196391"/>
            <a:ext cx="9274344" cy="98190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The POM class stores </a:t>
            </a:r>
            <a:r>
              <a:rPr lang="en-US" sz="1800" b="1" dirty="0"/>
              <a:t>locators</a:t>
            </a:r>
            <a:r>
              <a:rPr lang="en-US" sz="1800" dirty="0"/>
              <a:t> and </a:t>
            </a:r>
            <a:r>
              <a:rPr lang="en-US" sz="1800" b="1" dirty="0"/>
              <a:t>methods</a:t>
            </a:r>
            <a:r>
              <a:rPr lang="en-US" sz="1800" dirty="0"/>
              <a:t> for the Registration page. It makes code reusable, readable, and separates UI details from test logic.</a:t>
            </a:r>
            <a:endParaRPr lang="en-US" sz="1800" dirty="0"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387E90-986E-09FB-E5EA-9E6A2EB85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34" y="2351390"/>
            <a:ext cx="8393792" cy="4057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261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EDAB7-F1C7-637A-019B-115D86775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B9F65-803B-125B-B985-765AA400A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POM Class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69874D-D6C2-FB8E-E535-F7A94AD69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864" y="1352727"/>
            <a:ext cx="8134272" cy="526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23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29833-49DB-D826-33A3-7B7EC48F3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8DFA4-0227-C1F0-EEEA-DA20E1D54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Utilities</a:t>
            </a:r>
          </a:p>
        </p:txBody>
      </p:sp>
      <p:sp>
        <p:nvSpPr>
          <p:cNvPr id="32" name="Text Placeholder 6" descr="3D Models">
            <a:extLst>
              <a:ext uri="{FF2B5EF4-FFF2-40B4-BE49-F238E27FC236}">
                <a16:creationId xmlns:a16="http://schemas.microsoft.com/office/drawing/2014/main" id="{006582E0-11B4-5C2C-B03D-6DF90D359B33}"/>
              </a:ext>
            </a:extLst>
          </p:cNvPr>
          <p:cNvSpPr txBox="1">
            <a:spLocks/>
          </p:cNvSpPr>
          <p:nvPr/>
        </p:nvSpPr>
        <p:spPr>
          <a:xfrm>
            <a:off x="602973" y="1931122"/>
            <a:ext cx="10877115" cy="6096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ElementUtils provides </a:t>
            </a:r>
            <a:r>
              <a:rPr lang="en-US" sz="1800" b="1" dirty="0"/>
              <a:t>common reusable methods</a:t>
            </a:r>
            <a:r>
              <a:rPr lang="en-US" sz="1800" dirty="0"/>
              <a:t> like typing and fetching text. It improves code readability and reduces duplication across POM classes.</a:t>
            </a:r>
            <a:endParaRPr lang="en-US" sz="1800" dirty="0"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13F0ED-A75A-13C7-0679-08691C7BE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33" y="2709305"/>
            <a:ext cx="8035983" cy="38114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D03E67-E658-BFDF-084D-ADFDC8C80F56}"/>
              </a:ext>
            </a:extLst>
          </p:cNvPr>
          <p:cNvSpPr txBox="1"/>
          <p:nvPr/>
        </p:nvSpPr>
        <p:spPr>
          <a:xfrm>
            <a:off x="715617" y="1364974"/>
            <a:ext cx="3313044" cy="397565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endParaRPr lang="en-IN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B17E10-872B-4F73-EF4C-A207D582B678}"/>
              </a:ext>
            </a:extLst>
          </p:cNvPr>
          <p:cNvSpPr txBox="1"/>
          <p:nvPr/>
        </p:nvSpPr>
        <p:spPr>
          <a:xfrm>
            <a:off x="602973" y="1507676"/>
            <a:ext cx="2445027" cy="397565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</a:pPr>
            <a:r>
              <a:rPr lang="en-US" sz="2200" dirty="0"/>
              <a:t>ElementUtils: </a:t>
            </a:r>
            <a:endParaRPr lang="en-IN" sz="2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548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61C45-4243-AE83-0AA5-D0EB94D23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24792-0BFC-C6FF-C90C-8A5BBA4DC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Runner Class</a:t>
            </a:r>
          </a:p>
        </p:txBody>
      </p:sp>
      <p:sp>
        <p:nvSpPr>
          <p:cNvPr id="32" name="Text Placeholder 6" descr="3D Models">
            <a:extLst>
              <a:ext uri="{FF2B5EF4-FFF2-40B4-BE49-F238E27FC236}">
                <a16:creationId xmlns:a16="http://schemas.microsoft.com/office/drawing/2014/main" id="{444CB264-924E-BE87-15C1-393E0D686EA1}"/>
              </a:ext>
            </a:extLst>
          </p:cNvPr>
          <p:cNvSpPr txBox="1">
            <a:spLocks/>
          </p:cNvSpPr>
          <p:nvPr/>
        </p:nvSpPr>
        <p:spPr>
          <a:xfrm>
            <a:off x="604434" y="1363727"/>
            <a:ext cx="9274344" cy="98190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The </a:t>
            </a:r>
            <a:r>
              <a:rPr lang="en-US" sz="1800" b="1" dirty="0"/>
              <a:t>Runner class</a:t>
            </a:r>
            <a:r>
              <a:rPr lang="en-US" sz="1800" dirty="0"/>
              <a:t> executes Cucumber feature files with TestNG. It links the Gherkin steps in feature files to the Java step definitions and generates test reports.</a:t>
            </a:r>
            <a:endParaRPr lang="en-US" sz="1800" dirty="0"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511713-0E84-801E-E76F-198DC1E30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199" y="2711752"/>
            <a:ext cx="6936053" cy="333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778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C343A-92C2-9D75-849F-B5900FCFA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B0B3B-A512-31EA-3B4A-3F5001924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Extent Report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8A8293-9638-0C26-B732-E12EB7466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46" y="1475075"/>
            <a:ext cx="11400508" cy="454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329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58A64-4FE0-EEF6-E20A-FC3E29832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92323-8A8C-89D9-BB23-620AA2E76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3F7354-DB33-C4F5-9007-01F8BACCB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905" y="1510435"/>
            <a:ext cx="9978190" cy="471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13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CF048-E1D3-7546-1A48-25A1C4011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9D294-1AA1-1D30-8A34-79BE3B514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33BD73-8795-CF78-B10E-85F3729B8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137" y="1473698"/>
            <a:ext cx="10013725" cy="476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4484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29056-2803-0D64-B0A3-545FF9E17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A654F-0489-2487-0AFC-0BEE1ECA5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Link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9E13CD-48C2-4DAE-3F97-BCBBFE497899}"/>
              </a:ext>
            </a:extLst>
          </p:cNvPr>
          <p:cNvSpPr txBox="1"/>
          <p:nvPr/>
        </p:nvSpPr>
        <p:spPr>
          <a:xfrm>
            <a:off x="604434" y="2266950"/>
            <a:ext cx="9534525" cy="885825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</a:pP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Github Link: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endParaRPr lang="en-US" sz="24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https://github.com/PoojaPrakash08/WiproCapstoneProject.git</a:t>
            </a:r>
            <a:endParaRPr lang="en-IN" sz="24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024233"/>
      </p:ext>
    </p:extLst>
  </p:cSld>
  <p:clrMapOvr>
    <a:masterClrMapping/>
  </p:clrMapOvr>
</p:sld>
</file>

<file path=ppt/theme/theme1.xml><?xml version="1.0" encoding="utf-8"?>
<a:theme xmlns:a="http://schemas.openxmlformats.org/drawingml/2006/main" name="Get Started with 3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f16411177_win32_fixed.potx" id="{2BE36628-40A7-4124-9B03-283680FDB08B}" vid="{1F788C18-5B90-4886-BC26-C8416480C9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{02256BFD-13A2-44C7-A080-083C46B4C911}tf16411177_win32</Template>
  <TotalTime>644</TotalTime>
  <Words>336</Words>
  <Application>Microsoft Office PowerPoint</Application>
  <PresentationFormat>Widescreen</PresentationFormat>
  <Paragraphs>50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Segoe UI</vt:lpstr>
      <vt:lpstr>Segoe UI Light</vt:lpstr>
      <vt:lpstr>Get Started with 3D</vt:lpstr>
      <vt:lpstr>Capstone Project on VietJetAir Website</vt:lpstr>
      <vt:lpstr>Contents</vt:lpstr>
      <vt:lpstr>Project Overview</vt:lpstr>
      <vt:lpstr>Tools and Technologies Used</vt:lpstr>
      <vt:lpstr>Project Structure</vt:lpstr>
      <vt:lpstr>Feature Files</vt:lpstr>
      <vt:lpstr>Feature Files</vt:lpstr>
      <vt:lpstr>StepDefinitions</vt:lpstr>
      <vt:lpstr>StepDefinitions</vt:lpstr>
      <vt:lpstr>POM Class</vt:lpstr>
      <vt:lpstr>POM Class</vt:lpstr>
      <vt:lpstr>Utilities</vt:lpstr>
      <vt:lpstr>Runner Class</vt:lpstr>
      <vt:lpstr>Extent Report</vt:lpstr>
      <vt:lpstr>Screenshots</vt:lpstr>
      <vt:lpstr>Screenshots</vt:lpstr>
      <vt:lpstr>Github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Pooja Prakash Belgaumkar</dc:creator>
  <cp:lastModifiedBy>Pooja Prakash Belgaumkar</cp:lastModifiedBy>
  <cp:revision>46</cp:revision>
  <dcterms:created xsi:type="dcterms:W3CDTF">2025-09-07T19:56:01Z</dcterms:created>
  <dcterms:modified xsi:type="dcterms:W3CDTF">2025-09-09T12:16:31Z</dcterms:modified>
</cp:coreProperties>
</file>